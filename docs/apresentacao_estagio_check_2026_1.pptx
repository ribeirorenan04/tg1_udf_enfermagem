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YJZxdnwSYEz0Nift9uqzsWWEf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750d29321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e750d29321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e750d29321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G1tGusta/TG1_UDF_enfermagem/tree/main/prot%C3%B3tipo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201168"/>
            <a:ext cx="3474720" cy="320040"/>
          </a:xfrm>
          <a:prstGeom prst="rect">
            <a:avLst/>
          </a:prstGeom>
          <a:solidFill>
            <a:srgbClr val="028090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48640" y="20116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rgbClr val="A0D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0D8E0"/>
                </a:solidFill>
                <a:latin typeface="Calibri"/>
                <a:ea typeface="Calibri"/>
                <a:cs typeface="Calibri"/>
                <a:sym typeface="Calibri"/>
              </a:rPr>
              <a:t>Centro Universitário UDF · Ciência da Computação ·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68580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 Digital para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123444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Calibri"/>
                <a:ea typeface="Calibri"/>
                <a:cs typeface="Calibri"/>
                <a:sym typeface="Calibri"/>
              </a:rPr>
              <a:t>Gestão de Enfermagem</a:t>
            </a:r>
            <a:endParaRPr b="0" i="0" sz="3600" u="none" cap="none" strike="noStrike">
              <a:solidFill>
                <a:srgbClr val="9FC5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201168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FD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0BFD0"/>
                </a:solidFill>
                <a:latin typeface="Calibri"/>
                <a:ea typeface="Calibri"/>
                <a:cs typeface="Calibri"/>
                <a:sym typeface="Calibri"/>
              </a:rPr>
              <a:t>Solução Digital para Registro de Presença e Atividades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FD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0BFD0"/>
                </a:solidFill>
                <a:latin typeface="Calibri"/>
                <a:ea typeface="Calibri"/>
                <a:cs typeface="Calibri"/>
                <a:sym typeface="Calibri"/>
              </a:rPr>
              <a:t>de Estudantes em Ambientes de Prática Clínica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2880360"/>
            <a:ext cx="45720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48640" y="29992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ECDC4"/>
                </a:solidFill>
                <a:latin typeface="Calibri"/>
                <a:ea typeface="Calibri"/>
                <a:cs typeface="Calibri"/>
                <a:sym typeface="Calibri"/>
              </a:rPr>
              <a:t>Autores: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8640" y="321868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0"/>
                </a:solidFill>
                <a:latin typeface="Calibri"/>
                <a:ea typeface="Calibri"/>
                <a:cs typeface="Calibri"/>
                <a:sym typeface="Calibri"/>
              </a:rPr>
              <a:t>Kauã de Sousa da Costa  ·  Gustavo Lucas Santos Silva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0"/>
                </a:solidFill>
                <a:latin typeface="Calibri"/>
                <a:ea typeface="Calibri"/>
                <a:cs typeface="Calibri"/>
                <a:sym typeface="Calibri"/>
              </a:rPr>
              <a:t>Renan Ribeiro Mauricio  ·  Gabriel Tavares Pereira Silva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A9BB8"/>
                </a:solidFill>
                <a:latin typeface="Calibri"/>
                <a:ea typeface="Calibri"/>
                <a:cs typeface="Calibri"/>
                <a:sym typeface="Calibri"/>
              </a:rPr>
              <a:t>Orientação: Prof.ª Dr.ª Kadidja Valéria Reginaldo de Oliveira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18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48640" y="4846320"/>
            <a:ext cx="82296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Trabalho de Conclusão de Curso · 2026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8256125" y="4846325"/>
            <a:ext cx="6132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TGI — UDF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C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Roteiro da Apresentação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65760" y="1097280"/>
            <a:ext cx="411480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57200" y="120700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7200" y="12070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05840" y="11887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Contextualização e Problema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5760" y="2029968"/>
            <a:ext cx="411480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57200" y="2139696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57200" y="21396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05840" y="212140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Objetivos do Projeto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65760" y="2962656"/>
            <a:ext cx="411480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57200" y="3072384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57200" y="30723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005840" y="3054096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Fundamentação e Revisão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65760" y="3895344"/>
            <a:ext cx="411480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57200" y="4005072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5720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005840" y="3986784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Solução Proposta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846320" y="1097280"/>
            <a:ext cx="411480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937760" y="120700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937760" y="12070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486400" y="11887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Tecnologias e Arquitetura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846320" y="2029968"/>
            <a:ext cx="411480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937760" y="2139696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937760" y="21396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486400" y="212140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Modelagem e Funcionalidades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846320" y="2962656"/>
            <a:ext cx="411480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937760" y="3072384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937760" y="30723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486400" y="3054096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Protótipos da Interface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846320" y="3895344"/>
            <a:ext cx="411480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937760" y="4005072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93776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486400" y="3986784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Resultados e Conclusão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C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Contextualização do Problema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274320" y="1051560"/>
            <a:ext cx="2743200" cy="11887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274320" y="107899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INEP 2023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74320" y="14447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0F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0F0F8"/>
                </a:solidFill>
                <a:latin typeface="Calibri"/>
                <a:ea typeface="Calibri"/>
                <a:cs typeface="Calibri"/>
                <a:sym typeface="Calibri"/>
              </a:rPr>
              <a:t>Cenário Nacional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65760" y="16459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8F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8F8FA"/>
                </a:solidFill>
                <a:latin typeface="Calibri"/>
                <a:ea typeface="Calibri"/>
                <a:cs typeface="Calibri"/>
                <a:sym typeface="Calibri"/>
              </a:rPr>
              <a:t>Matrículas em cursos de saúde ultrapassam milhões no Brasil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200400" y="1051560"/>
            <a:ext cx="2743200" cy="118872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200400" y="107899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 2016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200400" y="14447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0F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0F0F8"/>
                </a:solidFill>
                <a:latin typeface="Calibri"/>
                <a:ea typeface="Calibri"/>
                <a:cs typeface="Calibri"/>
                <a:sym typeface="Calibri"/>
              </a:rPr>
              <a:t>Regulamentação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291840" y="16459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8F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8F8FA"/>
                </a:solidFill>
                <a:latin typeface="Calibri"/>
                <a:ea typeface="Calibri"/>
                <a:cs typeface="Calibri"/>
                <a:sym typeface="Calibri"/>
              </a:rPr>
              <a:t>Confiabilidade dos registros é fator essencial para qualidade da formação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126480" y="1051560"/>
            <a:ext cx="2743200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126480" y="107899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OMS 2021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126480" y="14447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0F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0F0F8"/>
                </a:solidFill>
                <a:latin typeface="Calibri"/>
                <a:ea typeface="Calibri"/>
                <a:cs typeface="Calibri"/>
                <a:sym typeface="Calibri"/>
              </a:rPr>
              <a:t>Diretriz Global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217920" y="16459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8F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8F8FA"/>
                </a:solidFill>
                <a:latin typeface="Calibri"/>
                <a:ea typeface="Calibri"/>
                <a:cs typeface="Calibri"/>
                <a:sym typeface="Calibri"/>
              </a:rPr>
              <a:t>Tecnologias digitais na saúde melhoram gestão da informação e eficiência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74320" y="2423160"/>
            <a:ext cx="8595360" cy="32004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274320" y="242316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ECDC4"/>
                </a:solidFill>
                <a:latin typeface="Calibri"/>
                <a:ea typeface="Calibri"/>
                <a:cs typeface="Calibri"/>
                <a:sym typeface="Calibri"/>
              </a:rPr>
              <a:t>⚠  Problema Identificado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20040" y="2939636"/>
            <a:ext cx="255900" cy="255900"/>
          </a:xfrm>
          <a:prstGeom prst="ellipse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685800" y="2834640"/>
            <a:ext cx="8138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Registro de presença realizado por métodos manuais (listas físicas</a:t>
            </a:r>
            <a:r>
              <a:rPr lang="en-US" sz="120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planilhas)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20040" y="3435394"/>
            <a:ext cx="255900" cy="255900"/>
          </a:xfrm>
          <a:prstGeom prst="ellipse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685800" y="3337560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Vulnerabilidades a fraudes — QR Code e assinaturas físicas facilmente burlados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20040" y="3945476"/>
            <a:ext cx="255900" cy="255900"/>
          </a:xfrm>
          <a:prstGeom prst="ellipse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685800" y="3840480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Dificuldade de rastreabilidade e validação das informações registradas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20040" y="4455557"/>
            <a:ext cx="255900" cy="255900"/>
          </a:xfrm>
          <a:prstGeom prst="ellipse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685800" y="4343400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Falta de acompanhamento em tempo real da carga horária e atividades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C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Objetivos do Projeto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274320" y="1005840"/>
            <a:ext cx="8595360" cy="9601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57200" y="10332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E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0E8E8"/>
                </a:solidFill>
                <a:latin typeface="Calibri"/>
                <a:ea typeface="Calibri"/>
                <a:cs typeface="Calibri"/>
                <a:sym typeface="Calibri"/>
              </a:rPr>
              <a:t>Objetivo Geral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57200" y="12801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Desenvolver e validar uma plataforma digital integrada para gerenciamento, monitoramento e validação das atividades de estágio supervisionado de estudantes de enfermagem, utilizando recursos tecnológicos para aumentar a confiabilidade, a transparência e a eficiência dos processos acadêmicos.</a:t>
            </a:r>
            <a:endParaRPr sz="11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74320" y="21031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74320" y="2450592"/>
            <a:ext cx="42062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347472" y="2578608"/>
            <a:ext cx="274320" cy="27432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347472" y="25786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13232" y="2505456"/>
            <a:ext cx="3657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Mapear processos atuais de registro de presença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74320" y="3072384"/>
            <a:ext cx="42062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347472" y="3200400"/>
            <a:ext cx="274320" cy="27432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347472" y="32004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13232" y="3127248"/>
            <a:ext cx="3657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Identificar falhas e vulnerabilidades dos métodos tradicionais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74320" y="3694176"/>
            <a:ext cx="42062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347472" y="3822192"/>
            <a:ext cx="274320" cy="27432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347472" y="38221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13232" y="3749040"/>
            <a:ext cx="3657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Levantar requisitos funcionais e não funcionais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74320" y="4315968"/>
            <a:ext cx="42062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347472" y="4443984"/>
            <a:ext cx="274320" cy="27432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347472" y="444398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13232" y="4370832"/>
            <a:ext cx="3657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Desenvolver plataforma digital para gestão dos estágios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754880" y="2450592"/>
            <a:ext cx="42062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828032" y="2578608"/>
            <a:ext cx="274320" cy="27432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4828032" y="25786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193792" y="2505456"/>
            <a:ext cx="3657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Implementar validação por GPS e registro fotográfico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754880" y="3072384"/>
            <a:ext cx="42062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4828032" y="3200400"/>
            <a:ext cx="274320" cy="27432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828032" y="32004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193792" y="3127248"/>
            <a:ext cx="3657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Realizar controle automatizado de horários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754880" y="3694176"/>
            <a:ext cx="42062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828032" y="3822192"/>
            <a:ext cx="274320" cy="27432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4828032" y="38221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193792" y="3749040"/>
            <a:ext cx="3657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Disponibilizar relatórios gerenciais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754880" y="4315968"/>
            <a:ext cx="42062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4828032" y="4443984"/>
            <a:ext cx="274320" cy="27432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828032" y="444398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193792" y="4370832"/>
            <a:ext cx="3657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Avaliar usabilidade e eficiência da solução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Revisão de Trabalhos Correlatos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274320" y="1024128"/>
            <a:ext cx="27432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274320" y="10241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Meu Estágio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Enfermagem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274320" y="1481328"/>
            <a:ext cx="274320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365760" y="1517904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Tavares (2021)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65760" y="1719072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Tipo: App Móvel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65760" y="1920240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Presença GPS, escalas, comunicação alunos/professores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200400" y="1024128"/>
            <a:ext cx="27432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3200400" y="10241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CuidarTech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200400" y="1481328"/>
            <a:ext cx="274320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3291840" y="1517904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Melo et al. (2020)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291840" y="1719072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Tipo: App Móvel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291840" y="1920240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Diagnóstico e histórico de enfermagem, raciocínio clínico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126480" y="1024128"/>
            <a:ext cx="2743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6126480" y="10241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ConectHaR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126480" y="1481328"/>
            <a:ext cx="274320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6217920" y="1517904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Reis et al. (2025)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217920" y="1719072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Tipo: Plataforma Web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217920" y="1920240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Gestão documental, ponto eletrônico, folha de pagamento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274320" y="2743200"/>
            <a:ext cx="8595360" cy="1024128"/>
          </a:xfrm>
          <a:prstGeom prst="rect">
            <a:avLst/>
          </a:prstGeom>
          <a:solidFill>
            <a:srgbClr val="E8F8F5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457200" y="27980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✓  Diferencial da Solução Proposta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57200" y="306324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Nenhuma das soluções analisadas </a:t>
            </a:r>
            <a:r>
              <a:rPr lang="en-US" sz="10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íntegra</a:t>
            </a: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: controle de presença por GPS + registro fotográfico + gerenciamento de rodízios + acompanhamento formativo + relatórios acadêmicos em uma única plataforma web específica para estágios supervisionados em enfermagem.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274320" y="3858768"/>
            <a:ext cx="8595360" cy="256032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274320" y="38587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Funcionalidade                                                                                                  </a:t>
            </a: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Meu Estágio                                         CuidarTech                                         ConectHaR                                              Nossa Solução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274320" y="4114800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274320" y="4114800"/>
            <a:ext cx="2286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Presença c/ Geolocalização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2834640" y="411480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297680" y="411480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669280" y="411480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Parcial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7223760" y="411480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274320" y="4361688"/>
            <a:ext cx="8595360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274320" y="4361688"/>
            <a:ext cx="2286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Registro Fotográfico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2834640" y="4361688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297680" y="4361688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5669280" y="4361688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223760" y="4361688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274320" y="4608576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274320" y="4608576"/>
            <a:ext cx="2286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Gestão de Rodízios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2834640" y="4608576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4297680" y="4608576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669280" y="4608576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7223760" y="4608576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274320" y="4855464"/>
            <a:ext cx="8595360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274320" y="4855464"/>
            <a:ext cx="2286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Acompanhamento Formativo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2834640" y="4855464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297680" y="4855464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5669280" y="4855464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7223760" y="4855464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C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Solução Proposta — Módulos do Sistema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228600" y="1024128"/>
            <a:ext cx="19659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228600" y="1024128"/>
            <a:ext cx="1965960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228600" y="1252728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01752" y="1682496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Check-in / Check-out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301752" y="2011680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Registro de entrada e saída com GPS, foto e descrição de atividades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2423160" y="1024128"/>
            <a:ext cx="19659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2423160" y="1024128"/>
            <a:ext cx="1965960" cy="2011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2423160" y="1252728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2496312" y="1682496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Geolocalização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2496312" y="2011680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Validação automática de localização com raio de tolerância configurável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617720" y="1024128"/>
            <a:ext cx="19659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617720" y="1024128"/>
            <a:ext cx="196596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4617720" y="1252728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690872" y="1682496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Rodízios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690872" y="2011680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Distribuição de alunos entre campos de prática com importação via planilha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812280" y="1024128"/>
            <a:ext cx="19659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6812280" y="1024128"/>
            <a:ext cx="196596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6812280" y="1252728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885432" y="1682496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Acomp. Formativo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885432" y="2011680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Preceptores registram avaliações qualitativas do desempenho do aluno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228600" y="2898648"/>
            <a:ext cx="19659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228600" y="2898648"/>
            <a:ext cx="1965960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228600" y="3127248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01752" y="3557016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Gestão de Usuários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01752" y="3886200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Perfis Aluno, Preceptor e Supervisor com permissões específicas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2423160" y="2898648"/>
            <a:ext cx="19659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2423160" y="2898648"/>
            <a:ext cx="1965960" cy="2011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2423160" y="3127248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2496312" y="3557016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Relatórios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2496312" y="3886200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Dashboards em tempo real: frequência, carga horária, pendências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4617720" y="2898648"/>
            <a:ext cx="19659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4617720" y="2898648"/>
            <a:ext cx="196596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4617720" y="3127248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690872" y="3557016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Validação Inteligente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690872" y="3886200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Aprovação automática de registros regulares; inconsistências para revisão manual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6812280" y="2898648"/>
            <a:ext cx="19659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6812280" y="2898648"/>
            <a:ext cx="196596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6812280" y="3127248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6885432" y="3557016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Controle de Carga Horária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6885432" y="3886200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Acompanhamento automático das horas cumpridas e emissão de certificados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C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Tecnológica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274320" y="1005840"/>
            <a:ext cx="274320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274320" y="100584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274320" y="1389888"/>
            <a:ext cx="2743200" cy="2651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384048" y="1481328"/>
            <a:ext cx="2523744" cy="502920"/>
          </a:xfrm>
          <a:prstGeom prst="rect">
            <a:avLst/>
          </a:prstGeom>
          <a:solidFill>
            <a:srgbClr val="F7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457200" y="151790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Angular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57200" y="172821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Framewor</a:t>
            </a: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k frontend</a:t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384048" y="2103120"/>
            <a:ext cx="2523744" cy="502920"/>
          </a:xfrm>
          <a:prstGeom prst="rect">
            <a:avLst/>
          </a:prstGeom>
          <a:solidFill>
            <a:srgbClr val="F7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457200" y="213969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57200" y="23500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Linguagem </a:t>
            </a: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 programação</a:t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84048" y="2724912"/>
            <a:ext cx="2523744" cy="502920"/>
          </a:xfrm>
          <a:prstGeom prst="rect">
            <a:avLst/>
          </a:prstGeom>
          <a:solidFill>
            <a:srgbClr val="F7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457200" y="276148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HTML5 + CSS3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57200" y="297180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Estrutura e estilos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384048" y="3346704"/>
            <a:ext cx="2523744" cy="502920"/>
          </a:xfrm>
          <a:prstGeom prst="rect">
            <a:avLst/>
          </a:prstGeom>
          <a:solidFill>
            <a:srgbClr val="F7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457200" y="33832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npm 10.8.2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57200" y="359359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Gerenciador de pacotes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3200400" y="1005840"/>
            <a:ext cx="274320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3200400" y="100584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3200400" y="1389888"/>
            <a:ext cx="2743200" cy="2651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3310128" y="1481328"/>
            <a:ext cx="2523744" cy="502920"/>
          </a:xfrm>
          <a:prstGeom prst="rect">
            <a:avLst/>
          </a:prstGeom>
          <a:solidFill>
            <a:srgbClr val="F7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3383280" y="151790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.NET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3383280" y="172821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Framework backend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3310128" y="2103120"/>
            <a:ext cx="2523744" cy="502920"/>
          </a:xfrm>
          <a:prstGeom prst="rect">
            <a:avLst/>
          </a:prstGeom>
          <a:solidFill>
            <a:srgbClr val="F7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3383280" y="213969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C#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3383280" y="23500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Linguagem </a:t>
            </a: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programação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3310128" y="2724912"/>
            <a:ext cx="2523744" cy="502920"/>
          </a:xfrm>
          <a:prstGeom prst="rect">
            <a:avLst/>
          </a:prstGeom>
          <a:solidFill>
            <a:srgbClr val="F7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3383280" y="276148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APIs 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3383280" y="297180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Comunicação HTTP/JSON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3310128" y="3346704"/>
            <a:ext cx="2523744" cy="502920"/>
          </a:xfrm>
          <a:prstGeom prst="rect">
            <a:avLst/>
          </a:prstGeom>
          <a:solidFill>
            <a:srgbClr val="F7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3383280" y="33832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JWT Auth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3383280" y="359359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Autenticação segura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126480" y="1005840"/>
            <a:ext cx="27432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6126480" y="100584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Dados &amp; Infra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6126480" y="1389888"/>
            <a:ext cx="2743200" cy="2651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6236208" y="1481328"/>
            <a:ext cx="2523744" cy="502920"/>
          </a:xfrm>
          <a:prstGeom prst="rect">
            <a:avLst/>
          </a:prstGeom>
          <a:solidFill>
            <a:srgbClr val="F7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6309360" y="151790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6309360" y="172821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Banco relacional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6236208" y="2103120"/>
            <a:ext cx="2523744" cy="502920"/>
          </a:xfrm>
          <a:prstGeom prst="rect">
            <a:avLst/>
          </a:prstGeom>
          <a:solidFill>
            <a:srgbClr val="F7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6309360" y="213969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Supabase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309360" y="23500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Backend-as-a-Service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6236208" y="2724912"/>
            <a:ext cx="2523744" cy="502920"/>
          </a:xfrm>
          <a:prstGeom prst="rect">
            <a:avLst/>
          </a:prstGeom>
          <a:solidFill>
            <a:srgbClr val="F7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6309360" y="276148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API externa info saúde DF</a:t>
            </a:r>
            <a:endParaRPr b="1" sz="1100">
              <a:solidFill>
                <a:srgbClr val="10B98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6309360" y="297180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Geolocalização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6236208" y="3346704"/>
            <a:ext cx="2523744" cy="502920"/>
          </a:xfrm>
          <a:prstGeom prst="rect">
            <a:avLst/>
          </a:prstGeom>
          <a:solidFill>
            <a:srgbClr val="F7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6309360" y="33832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Git/GitHub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309360" y="359359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Versionamento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7"/>
          <p:cNvSpPr/>
          <p:nvPr/>
        </p:nvSpPr>
        <p:spPr>
          <a:xfrm>
            <a:off x="457200" y="418795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🏗  Arquitetura: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Cliente-Servidor  —  Frontend Angular ↔ APIs REST ↔ Backend .NET ↔ PostgreSQL / Supabase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C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Arquitetura e Modelagem do Sistema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274320" y="1005840"/>
            <a:ext cx="2286000" cy="1645920"/>
          </a:xfrm>
          <a:prstGeom prst="rect">
            <a:avLst/>
          </a:prstGeom>
          <a:solidFill>
            <a:srgbClr val="028090">
              <a:alpha val="85098"/>
            </a:srgbClr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274320" y="102412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274320" y="1417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Aplicação Web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(Angular)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274320" y="187452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0F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F0F8"/>
                </a:solidFill>
                <a:latin typeface="Calibri"/>
                <a:ea typeface="Calibri"/>
                <a:cs typeface="Calibri"/>
                <a:sym typeface="Calibri"/>
              </a:rPr>
              <a:t>👤 Aluno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0F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F0F8"/>
                </a:solidFill>
                <a:latin typeface="Calibri"/>
                <a:ea typeface="Calibri"/>
                <a:cs typeface="Calibri"/>
                <a:sym typeface="Calibri"/>
              </a:rPr>
              <a:t>👤 Preceptor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0F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F0F8"/>
                </a:solidFill>
                <a:latin typeface="Calibri"/>
                <a:ea typeface="Calibri"/>
                <a:cs typeface="Calibri"/>
                <a:sym typeface="Calibri"/>
              </a:rPr>
              <a:t>👤 Supervisor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2578608" y="1691640"/>
            <a:ext cx="548640" cy="128016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2578608" y="153619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HTTP/HTTPS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3154680" y="1005840"/>
            <a:ext cx="2926080" cy="1645920"/>
          </a:xfrm>
          <a:prstGeom prst="rect">
            <a:avLst/>
          </a:prstGeom>
          <a:solidFill>
            <a:srgbClr val="6366F1">
              <a:alpha val="85098"/>
            </a:srgbClr>
          </a:solidFill>
          <a:ln cap="flat" cmpd="sng" w="1905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3154680" y="1024128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CAMADA DE SERVIÇOS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(Backend .NET / C#)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3246120" y="1481328"/>
            <a:ext cx="132588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3246120" y="148132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Usuários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4663440" y="1481328"/>
            <a:ext cx="132588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4663440" y="148132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Presença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3246120" y="1828800"/>
            <a:ext cx="132588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3246120" y="182880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Rodízios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4663440" y="1828800"/>
            <a:ext cx="132588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4663440" y="182880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Avaliações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3246120" y="2176272"/>
            <a:ext cx="132588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3246120" y="217627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Relatórios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4663440" y="2176272"/>
            <a:ext cx="132588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4663440" y="217627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Locais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6108192" y="1691640"/>
            <a:ext cx="548640" cy="128016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6108192" y="153619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6675120" y="1005840"/>
            <a:ext cx="2194560" cy="1645920"/>
          </a:xfrm>
          <a:prstGeom prst="rect">
            <a:avLst/>
          </a:prstGeom>
          <a:solidFill>
            <a:srgbClr val="10B981">
              <a:alpha val="85098"/>
            </a:srgbClr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6675120" y="102412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BANCO DE DADOS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(PostgreSQL)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6766560" y="1463040"/>
            <a:ext cx="2011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8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F8E8"/>
                </a:solidFill>
                <a:latin typeface="Calibri"/>
                <a:ea typeface="Calibri"/>
                <a:cs typeface="Calibri"/>
                <a:sym typeface="Calibri"/>
              </a:rPr>
              <a:t>• Usuários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8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F8E8"/>
                </a:solidFill>
                <a:latin typeface="Calibri"/>
                <a:ea typeface="Calibri"/>
                <a:cs typeface="Calibri"/>
                <a:sym typeface="Calibri"/>
              </a:rPr>
              <a:t>• Presenças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8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F8E8"/>
                </a:solidFill>
                <a:latin typeface="Calibri"/>
                <a:ea typeface="Calibri"/>
                <a:cs typeface="Calibri"/>
                <a:sym typeface="Calibri"/>
              </a:rPr>
              <a:t>• Rodízios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8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F8E8"/>
                </a:solidFill>
                <a:latin typeface="Calibri"/>
                <a:ea typeface="Calibri"/>
                <a:cs typeface="Calibri"/>
                <a:sym typeface="Calibri"/>
              </a:rPr>
              <a:t>• Locais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8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F8E8"/>
                </a:solidFill>
                <a:latin typeface="Calibri"/>
                <a:ea typeface="Calibri"/>
                <a:cs typeface="Calibri"/>
                <a:sym typeface="Calibri"/>
              </a:rPr>
              <a:t>• Avaliações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8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F8E8"/>
                </a:solidFill>
                <a:latin typeface="Calibri"/>
                <a:ea typeface="Calibri"/>
                <a:cs typeface="Calibri"/>
                <a:sym typeface="Calibri"/>
              </a:rPr>
              <a:t>• Relatórios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274320" y="2788920"/>
            <a:ext cx="8595360" cy="292608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274320" y="278892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SERVIÇOS EXTERNOS:  📍 GPS / Google Maps API   📷 Armazenamento de Imagens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274320" y="3182112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Requisitos Funcionais (principais)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4754880" y="318211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Requisitos Não Funcionais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274320" y="3493008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RF001 — Cadastro de usuários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274320" y="3749040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RF002 — Autenticação segura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274320" y="4005072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RF003 — Registro de presença com GPS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274320" y="4261104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RF004 — Controle de escalas e rodízios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274320" y="4517136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RF005 — Avaliações acadêmicas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274320" y="4773168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RF006 — Relatórios gerenciais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754880" y="3493008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RNF001 — Segurança e autenticação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4754880" y="3749040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RNF002 — Interface intuitiva / responsiva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4754880" y="400507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RNF003 — Desempenho e disponibilidade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4754880" y="4261104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RNF004 — Compatibilidade móvel/web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4754880" y="4517136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RNF005 — Escalabilidade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4754880" y="4773168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RNF006 — Integridade dos dados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719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Protótipos de Interface — EstágioCheck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457800" y="1141950"/>
            <a:ext cx="8229600" cy="3614400"/>
          </a:xfrm>
          <a:prstGeom prst="rect">
            <a:avLst/>
          </a:prstGeom>
          <a:solidFill>
            <a:srgbClr val="132238"/>
          </a:solidFill>
          <a:ln cap="flat" cmpd="sng" w="426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4425" lIns="204425" spcFirstLastPara="1" rIns="204425" wrap="square" tIns="20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457800" y="1141950"/>
            <a:ext cx="8229600" cy="6321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204425" lIns="204425" spcFirstLastPara="1" rIns="204425" wrap="square" tIns="20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457800" y="1141950"/>
            <a:ext cx="82296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7"/>
              <a:buFont typeface="Calibri"/>
              <a:buNone/>
            </a:pPr>
            <a:r>
              <a:t/>
            </a:r>
            <a:endParaRPr b="0" i="0" sz="16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1154600" y="2044150"/>
            <a:ext cx="6836400" cy="758400"/>
          </a:xfrm>
          <a:prstGeom prst="rect">
            <a:avLst/>
          </a:prstGeom>
          <a:solidFill>
            <a:srgbClr val="1E3A54"/>
          </a:solidFill>
          <a:ln>
            <a:noFill/>
          </a:ln>
        </p:spPr>
        <p:txBody>
          <a:bodyPr anchorCtr="0" anchor="ctr" bIns="204425" lIns="204425" spcFirstLastPara="1" rIns="204425" wrap="square" tIns="20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O sistema conta com 12 telas distribuídas entre os perfis Aluno, Preceptor e Professor (Supervisor): Login · Tela Inicial · Registro de Presença · Histórico do Aluno 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· Acompanhamento do Aluno · Acompanhamento do Preceptor · Alunos do Preceptor 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· Usuários do Professor · Locais do Professor · e demais interfaces de gestão acadêmica.</a:t>
            </a:r>
            <a:r>
              <a:rPr lang="en-US" sz="800">
                <a:solidFill>
                  <a:schemeClr val="dk1"/>
                </a:solidFill>
              </a:rPr>
              <a:t> 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2221250" y="3225251"/>
            <a:ext cx="4703100" cy="325800"/>
          </a:xfrm>
          <a:prstGeom prst="rect">
            <a:avLst/>
          </a:prstGeom>
          <a:solidFill>
            <a:srgbClr val="1E3A54"/>
          </a:solidFill>
          <a:ln>
            <a:noFill/>
          </a:ln>
        </p:spPr>
        <p:txBody>
          <a:bodyPr anchorCtr="0" anchor="ctr" bIns="204425" lIns="204425" spcFirstLastPara="1" rIns="204425" wrap="square" tIns="20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Acesse os protótipos em: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1108400" y="3932300"/>
            <a:ext cx="6928800" cy="497100"/>
          </a:xfrm>
          <a:prstGeom prst="rect">
            <a:avLst/>
          </a:prstGeom>
          <a:solidFill>
            <a:srgbClr val="028090">
              <a:alpha val="60000"/>
            </a:srgbClr>
          </a:solidFill>
          <a:ln>
            <a:noFill/>
          </a:ln>
        </p:spPr>
        <p:txBody>
          <a:bodyPr anchorCtr="0" anchor="ctr" bIns="204425" lIns="204425" spcFirstLastPara="1" rIns="204425" wrap="square" tIns="20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https://github.com/G1tGusta/TG1_UDF_enfermagem/tree/main/prot%C3%B3tipos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C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Modelagem de Dados — DER (Principais Tabelas)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182880" y="1041658"/>
            <a:ext cx="2469000" cy="274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182880" y="1041658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182875" y="1315970"/>
            <a:ext cx="2469000" cy="136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256032" y="1370842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🔑 IdUsuario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256032" y="1538930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NomeCompleto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256032" y="1714182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Email (UNIQUE)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256032" y="1882269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SenhaHash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256032" y="2050357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Papel (role)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256032" y="2218445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Matricula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3291840" y="1041658"/>
            <a:ext cx="2469000" cy="274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3291840" y="1041658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RegistrosPresenca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3291850" y="1315968"/>
            <a:ext cx="2469000" cy="136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3364992" y="1370842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🔑 IdPresenca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3364992" y="1538930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🔗 IdEstudante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3364992" y="1714182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🔗 IdEscala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3364992" y="1889433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Latitude / Longitude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3364992" y="2050357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DataHora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3364992" y="2218445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ValidadoPorIA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3364992" y="2372206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MotivoIrregularidade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6492240" y="1041658"/>
            <a:ext cx="2469000" cy="274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6492240" y="1041658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EscalasRodizio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6492250" y="1315968"/>
            <a:ext cx="2469000" cy="136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6565392" y="1370842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🔑 IdEscala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6565392" y="1538930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🔗 IdGrupo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6565392" y="1721345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🔗 IdLocal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6565392" y="1889433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DataInicio / DataFim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6565392" y="2050357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TipoAtividade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182880" y="3076517"/>
            <a:ext cx="2469000" cy="274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182880" y="3076517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AcompanhamentosFormativos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182875" y="3350837"/>
            <a:ext cx="2469000" cy="136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256032" y="3405701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🔑 IdAcompanhamento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256032" y="3580952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🔗 IdEstudante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256032" y="3756204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🔗 IdPreceptor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256032" y="3931455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PosturaProfissional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256032" y="4106707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Comunicacao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256032" y="4274795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Participacao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256032" y="4435719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ObservacaoDocente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3291840" y="3076517"/>
            <a:ext cx="2469000" cy="274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3291840" y="3076517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Avaliacoes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3291850" y="3350837"/>
            <a:ext cx="2469000" cy="136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3364992" y="3405701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🔑 IdAvaliacao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3364992" y="3573789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🔗 IdEstudante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3364992" y="3749040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🔗 IdPreceptor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3364992" y="3924292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NotaAtividades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3364992" y="4099543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NotaPostura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3364992" y="4267631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NotaPlanejamento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6492240" y="3076517"/>
            <a:ext cx="2469000" cy="274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6492240" y="3076517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6492250" y="3350837"/>
            <a:ext cx="2469000" cy="136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6565392" y="3405701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🔑 IdLocal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6565392" y="3573789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Nome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6565392" y="3749040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Endereco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6565392" y="3917128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Latitude / Longitude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6565392" y="4085216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RaioMetros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6565392" y="4253304"/>
            <a:ext cx="232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  Instituicao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C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Esperados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228600" y="1097280"/>
            <a:ext cx="2743200" cy="16002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228600" y="1097280"/>
            <a:ext cx="27432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1"/>
          <p:cNvSpPr/>
          <p:nvPr/>
        </p:nvSpPr>
        <p:spPr>
          <a:xfrm>
            <a:off x="228600" y="12801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320040" y="18288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Redução de Fraudes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320040" y="21488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Validação por GPS + foto eliminam falsos registros de presença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3154680" y="1097280"/>
            <a:ext cx="2743200" cy="16002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3154680" y="1097280"/>
            <a:ext cx="2743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3154680" y="12801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3246120" y="18288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Confiabilidade dos Registros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3246120" y="21488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Dados rastreáveis, com validação automática e histórico completo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6080760" y="1097280"/>
            <a:ext cx="2743200" cy="16002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6080760" y="1097280"/>
            <a:ext cx="27432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1"/>
          <p:cNvSpPr/>
          <p:nvPr/>
        </p:nvSpPr>
        <p:spPr>
          <a:xfrm>
            <a:off x="6080760" y="12801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📚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6172200" y="18288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Melhor Acomp. Acadêmico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6172200" y="21488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Supervisores e preceptores monitoram alunos em tempo real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228600" y="2880360"/>
            <a:ext cx="2743200" cy="16002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228600" y="2880360"/>
            <a:ext cx="27432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228600" y="3063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320040" y="36118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Automação de Processos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320040" y="39319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Controle de carga horária, escalas e relatórios automáticos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3154680" y="2880360"/>
            <a:ext cx="2743200" cy="16002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3154680" y="2880360"/>
            <a:ext cx="2743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3154680" y="3063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3246120" y="36118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Centralização da Informação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3246120" y="39319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Uma única plataforma para todos os dados do estágio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6080760" y="2880360"/>
            <a:ext cx="2743200" cy="16002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6080760" y="2880360"/>
            <a:ext cx="2743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1"/>
          <p:cNvSpPr/>
          <p:nvPr/>
        </p:nvSpPr>
        <p:spPr>
          <a:xfrm>
            <a:off x="6080760" y="3063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6172200" y="36118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Eficiência Administrativa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6172200" y="39319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Redução de trabalho manual e de erros de registro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C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e750d29321_0_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e750d29321_0_6"/>
          <p:cNvSpPr/>
          <p:nvPr/>
        </p:nvSpPr>
        <p:spPr>
          <a:xfrm>
            <a:off x="457200" y="1371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e750d29321_0_6"/>
          <p:cNvSpPr/>
          <p:nvPr/>
        </p:nvSpPr>
        <p:spPr>
          <a:xfrm>
            <a:off x="0" y="868680"/>
            <a:ext cx="9144000" cy="549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e750d29321_0_6"/>
          <p:cNvSpPr/>
          <p:nvPr/>
        </p:nvSpPr>
        <p:spPr>
          <a:xfrm>
            <a:off x="457200" y="1097280"/>
            <a:ext cx="8229600" cy="658500"/>
          </a:xfrm>
          <a:prstGeom prst="rect">
            <a:avLst/>
          </a:prstGeom>
          <a:solidFill>
            <a:srgbClr val="0D2D50">
              <a:alpha val="80000"/>
            </a:srgbClr>
          </a:solidFill>
          <a:ln cap="flat" cmpd="sng" w="12700">
            <a:solidFill>
              <a:srgbClr val="1E4A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e750d29321_0_6"/>
          <p:cNvSpPr/>
          <p:nvPr/>
        </p:nvSpPr>
        <p:spPr>
          <a:xfrm>
            <a:off x="548640" y="1097280"/>
            <a:ext cx="548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e750d29321_0_6"/>
          <p:cNvSpPr/>
          <p:nvPr/>
        </p:nvSpPr>
        <p:spPr>
          <a:xfrm>
            <a:off x="1143000" y="1097280"/>
            <a:ext cx="7406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0E8F8"/>
                </a:solidFill>
                <a:latin typeface="Calibri"/>
                <a:ea typeface="Calibri"/>
                <a:cs typeface="Calibri"/>
                <a:sym typeface="Calibri"/>
              </a:rPr>
              <a:t>Solução integrada que moderniza os processos de registro em estágios supervisionados de enfermagem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e750d29321_0_6"/>
          <p:cNvSpPr/>
          <p:nvPr/>
        </p:nvSpPr>
        <p:spPr>
          <a:xfrm>
            <a:off x="457200" y="1838702"/>
            <a:ext cx="8229600" cy="658500"/>
          </a:xfrm>
          <a:prstGeom prst="rect">
            <a:avLst/>
          </a:prstGeom>
          <a:solidFill>
            <a:srgbClr val="0D2D50">
              <a:alpha val="80000"/>
            </a:srgbClr>
          </a:solidFill>
          <a:ln cap="flat" cmpd="sng" w="12700">
            <a:solidFill>
              <a:srgbClr val="1E4A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e750d29321_0_6"/>
          <p:cNvSpPr/>
          <p:nvPr/>
        </p:nvSpPr>
        <p:spPr>
          <a:xfrm>
            <a:off x="548640" y="1838702"/>
            <a:ext cx="548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🛡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e750d29321_0_6"/>
          <p:cNvSpPr/>
          <p:nvPr/>
        </p:nvSpPr>
        <p:spPr>
          <a:xfrm>
            <a:off x="1143000" y="1838702"/>
            <a:ext cx="7406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0E8F8"/>
                </a:solidFill>
                <a:latin typeface="Calibri"/>
                <a:ea typeface="Calibri"/>
                <a:cs typeface="Calibri"/>
                <a:sym typeface="Calibri"/>
              </a:rPr>
              <a:t>Validação por GPS e fotografia reduz significativamente vulnerabilidades a fraudes identificadas nos métodos tradicionais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e750d29321_0_6"/>
          <p:cNvSpPr/>
          <p:nvPr/>
        </p:nvSpPr>
        <p:spPr>
          <a:xfrm>
            <a:off x="457200" y="2580124"/>
            <a:ext cx="8229600" cy="658500"/>
          </a:xfrm>
          <a:prstGeom prst="rect">
            <a:avLst/>
          </a:prstGeom>
          <a:solidFill>
            <a:srgbClr val="0D2D50">
              <a:alpha val="80000"/>
            </a:srgbClr>
          </a:solidFill>
          <a:ln cap="flat" cmpd="sng" w="12700">
            <a:solidFill>
              <a:srgbClr val="1E4A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e750d29321_0_6"/>
          <p:cNvSpPr/>
          <p:nvPr/>
        </p:nvSpPr>
        <p:spPr>
          <a:xfrm>
            <a:off x="548640" y="2580124"/>
            <a:ext cx="548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e750d29321_0_6"/>
          <p:cNvSpPr/>
          <p:nvPr/>
        </p:nvSpPr>
        <p:spPr>
          <a:xfrm>
            <a:off x="1143000" y="2580124"/>
            <a:ext cx="7406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0E8F8"/>
                </a:solidFill>
                <a:latin typeface="Calibri"/>
                <a:ea typeface="Calibri"/>
                <a:cs typeface="Calibri"/>
                <a:sym typeface="Calibri"/>
              </a:rPr>
              <a:t>Acompanhamento em tempo real melhora a supervisão acadêmica e a gestão da carga horária dos estudantes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e750d29321_0_6"/>
          <p:cNvSpPr/>
          <p:nvPr/>
        </p:nvSpPr>
        <p:spPr>
          <a:xfrm>
            <a:off x="457200" y="3321545"/>
            <a:ext cx="8229600" cy="658500"/>
          </a:xfrm>
          <a:prstGeom prst="rect">
            <a:avLst/>
          </a:prstGeom>
          <a:solidFill>
            <a:srgbClr val="0D2D50">
              <a:alpha val="80000"/>
            </a:srgbClr>
          </a:solidFill>
          <a:ln cap="flat" cmpd="sng" w="12700">
            <a:solidFill>
              <a:srgbClr val="1E4A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e750d29321_0_6"/>
          <p:cNvSpPr/>
          <p:nvPr/>
        </p:nvSpPr>
        <p:spPr>
          <a:xfrm>
            <a:off x="548640" y="3321545"/>
            <a:ext cx="548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e750d29321_0_6"/>
          <p:cNvSpPr/>
          <p:nvPr/>
        </p:nvSpPr>
        <p:spPr>
          <a:xfrm>
            <a:off x="1143000" y="3321545"/>
            <a:ext cx="7406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0E8F8"/>
                </a:solidFill>
                <a:latin typeface="Calibri"/>
                <a:ea typeface="Calibri"/>
                <a:cs typeface="Calibri"/>
                <a:sym typeface="Calibri"/>
              </a:rPr>
              <a:t>Plataforma centralizadora unifica alunos, preceptores e supervisores em um único ambiente digital seguro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e750d29321_0_6"/>
          <p:cNvSpPr/>
          <p:nvPr/>
        </p:nvSpPr>
        <p:spPr>
          <a:xfrm>
            <a:off x="457200" y="4134604"/>
            <a:ext cx="8229600" cy="594300"/>
          </a:xfrm>
          <a:prstGeom prst="rect">
            <a:avLst/>
          </a:prstGeom>
          <a:solidFill>
            <a:srgbClr val="0618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e750d29321_0_6"/>
          <p:cNvSpPr/>
          <p:nvPr/>
        </p:nvSpPr>
        <p:spPr>
          <a:xfrm>
            <a:off x="594360" y="4152892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ECDC4"/>
                </a:solidFill>
                <a:latin typeface="Calibri"/>
                <a:ea typeface="Calibri"/>
                <a:cs typeface="Calibri"/>
                <a:sym typeface="Calibri"/>
              </a:rPr>
              <a:t>🔭  Trabalhos Futuros: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e750d29321_0_6"/>
          <p:cNvSpPr/>
          <p:nvPr/>
        </p:nvSpPr>
        <p:spPr>
          <a:xfrm>
            <a:off x="594360" y="4408924"/>
            <a:ext cx="7955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9BB8"/>
                </a:solidFill>
                <a:latin typeface="Calibri"/>
                <a:ea typeface="Calibri"/>
                <a:cs typeface="Calibri"/>
                <a:sym typeface="Calibri"/>
              </a:rPr>
              <a:t>Reconhecimento facial · Modo offline · Integração com sistemas institucionais · Testes com maior volume de usuários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e750d29321_0_6"/>
          <p:cNvSpPr/>
          <p:nvPr/>
        </p:nvSpPr>
        <p:spPr>
          <a:xfrm>
            <a:off x="457200" y="4728900"/>
            <a:ext cx="8229600" cy="255900"/>
          </a:xfrm>
          <a:prstGeom prst="rect">
            <a:avLst/>
          </a:prstGeom>
          <a:solidFill>
            <a:srgbClr val="0D2D50">
              <a:alpha val="80000"/>
            </a:srgbClr>
          </a:solidFill>
          <a:ln cap="flat" cmpd="sng" w="12700">
            <a:solidFill>
              <a:srgbClr val="1E4A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4ECDC4"/>
                </a:solidFill>
              </a:rPr>
              <a:t>🌍  Alinhamento ODS/Agenda 2030: </a:t>
            </a: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ODS 3 – Saúde e Bem-Estar  ·  ODS 4 – Educação de Qualidade  ·  ODS 9 – Inovação e Infraestrutura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C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Equipe &amp; Referências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3"/>
          <p:cNvSpPr/>
          <p:nvPr/>
        </p:nvSpPr>
        <p:spPr>
          <a:xfrm>
            <a:off x="274320" y="9875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Autores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274320" y="3291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Orientação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320048" y="3614832"/>
            <a:ext cx="3604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Prof.ª Dr.ª Kadidja Valéria Reginaldo de Oliveira (</a:t>
            </a:r>
            <a:r>
              <a:rPr lang="en-US" sz="10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rientadora)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4206240" y="987552"/>
            <a:ext cx="27432" cy="38404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3"/>
          <p:cNvSpPr/>
          <p:nvPr/>
        </p:nvSpPr>
        <p:spPr>
          <a:xfrm>
            <a:off x="4389120" y="98755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Principais Referências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4389120" y="1325880"/>
            <a:ext cx="44805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3"/>
          <p:cNvSpPr/>
          <p:nvPr/>
        </p:nvSpPr>
        <p:spPr>
          <a:xfrm>
            <a:off x="4480560" y="134416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BRASIL. MEC. Diretrizes e Bases da Educação Nacional, 2016.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4389120" y="1691640"/>
            <a:ext cx="4480560" cy="310896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3"/>
          <p:cNvSpPr/>
          <p:nvPr/>
        </p:nvSpPr>
        <p:spPr>
          <a:xfrm>
            <a:off x="4480560" y="170992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INEP. Censo da Educação Superior 2023. Brasília: INEP, 2023.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4389120" y="2057400"/>
            <a:ext cx="44805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3"/>
          <p:cNvSpPr/>
          <p:nvPr/>
        </p:nvSpPr>
        <p:spPr>
          <a:xfrm>
            <a:off x="4480560" y="207568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LAUDON; LAUDON. Sistemas de Informação Gerenciais. 11.ed. Pearson, 2014.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4389120" y="2423160"/>
            <a:ext cx="4480560" cy="310896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3"/>
          <p:cNvSpPr/>
          <p:nvPr/>
        </p:nvSpPr>
        <p:spPr>
          <a:xfrm>
            <a:off x="4480560" y="244144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MELO et al. Aplicativo móvel para histórico e diagnóstico de enfermagem. Rev. Bras. Enferm., 2020.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4389120" y="2788920"/>
            <a:ext cx="44805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3"/>
          <p:cNvSpPr/>
          <p:nvPr/>
        </p:nvSpPr>
        <p:spPr>
          <a:xfrm>
            <a:off x="4480560" y="280720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PRESSMAN; MAXIM. Engenharia de Software. 8.ed. AMGH, 2016.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4389120" y="3154680"/>
            <a:ext cx="4480560" cy="310896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3"/>
          <p:cNvSpPr/>
          <p:nvPr/>
        </p:nvSpPr>
        <p:spPr>
          <a:xfrm>
            <a:off x="4480560" y="317296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SOMMERVILLE, I. Engenharia de Software. 10.ed. Pearson, 2018.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4389120" y="3520440"/>
            <a:ext cx="44805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3"/>
          <p:cNvSpPr/>
          <p:nvPr/>
        </p:nvSpPr>
        <p:spPr>
          <a:xfrm>
            <a:off x="4480560" y="353872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TAVARES. Meu Estágio Enfermagem: protótipo de aplicativo. USP, 2021.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4389120" y="3886200"/>
            <a:ext cx="4480560" cy="310896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3"/>
          <p:cNvSpPr/>
          <p:nvPr/>
        </p:nvSpPr>
        <p:spPr>
          <a:xfrm>
            <a:off x="4480560" y="390448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WHO. Global Strategy on Digital Health 2020–2025. Geneva, 2021.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 txBox="1"/>
          <p:nvPr/>
        </p:nvSpPr>
        <p:spPr>
          <a:xfrm>
            <a:off x="401050" y="1325875"/>
            <a:ext cx="3000000" cy="15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D0F0F8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r>
              <a:rPr lang="en-US" sz="120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Kauã de Sousa da Costa</a:t>
            </a:r>
            <a:endParaRPr sz="110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D0F0F8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r>
              <a:rPr lang="en-US" sz="120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Gustavo Lucas Santos Silva</a:t>
            </a:r>
            <a:endParaRPr sz="110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D0F0F8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r>
              <a:rPr lang="en-US" sz="120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Renan Ribeiro Mauricio</a:t>
            </a:r>
            <a:endParaRPr sz="110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lang="en-US" sz="950">
                <a:solidFill>
                  <a:srgbClr val="D0F0F8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r>
              <a:rPr lang="en-US" sz="120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Gabriel Tavares Pereira Silva</a:t>
            </a:r>
            <a:endParaRPr sz="110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4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4ECDC4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D0E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0D0E8"/>
                </a:solidFill>
                <a:latin typeface="Calibri"/>
                <a:ea typeface="Calibri"/>
                <a:cs typeface="Calibri"/>
                <a:sym typeface="Calibri"/>
              </a:rPr>
              <a:t>Sistema Digital para Gestão de Enfermagem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2286000" y="2971800"/>
            <a:ext cx="45720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4"/>
          <p:cNvSpPr/>
          <p:nvPr/>
        </p:nvSpPr>
        <p:spPr>
          <a:xfrm>
            <a:off x="457200" y="3400759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A88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4A6A88"/>
                </a:solidFill>
                <a:latin typeface="Calibri"/>
                <a:ea typeface="Calibri"/>
                <a:cs typeface="Calibri"/>
                <a:sym typeface="Calibri"/>
              </a:rPr>
              <a:t>Centro Universitário UDF · Curso de Ciência da Computação · Brasília ·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457200" y="420624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A78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3A5A78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i="1" lang="en-US" sz="950">
                <a:solidFill>
                  <a:srgbClr val="3A5A78"/>
                </a:solidFill>
                <a:latin typeface="Calibri"/>
                <a:ea typeface="Calibri"/>
                <a:cs typeface="Calibri"/>
                <a:sym typeface="Calibri"/>
              </a:rPr>
              <a:t>rientadora</a:t>
            </a:r>
            <a:r>
              <a:rPr i="1" lang="en-US" sz="1050">
                <a:solidFill>
                  <a:srgbClr val="3A5A7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i="1" lang="en-US" sz="950">
                <a:solidFill>
                  <a:srgbClr val="3A5A7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950">
                <a:solidFill>
                  <a:srgbClr val="3A5A78"/>
                </a:solidFill>
                <a:latin typeface="Calibri"/>
                <a:ea typeface="Calibri"/>
                <a:cs typeface="Calibri"/>
                <a:sym typeface="Calibri"/>
              </a:rPr>
              <a:t>Prof.ª Dr.ª Kadidja Valéria Reginaldo de Oliveira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78"/>
              </a:buClr>
              <a:buSzPts val="950"/>
              <a:buFont typeface="Calibri"/>
              <a:buNone/>
            </a:pPr>
            <a:r>
              <a:t/>
            </a:r>
            <a:endParaRPr i="1" sz="950">
              <a:solidFill>
                <a:srgbClr val="3A5A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2026-06-02T18:08:53Z</dcterms:created>
  <dc:creator>Kauã, Gustavo, Renan, Gabriel</dc:creator>
</cp:coreProperties>
</file>